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9" r:id="rId4"/>
  </p:sldMasterIdLst>
  <p:notesMasterIdLst>
    <p:notesMasterId r:id="rId27"/>
  </p:notesMasterIdLst>
  <p:handoutMasterIdLst>
    <p:handoutMasterId r:id="rId28"/>
  </p:handoutMasterIdLst>
  <p:sldIdLst>
    <p:sldId id="256" r:id="rId5"/>
    <p:sldId id="257" r:id="rId6"/>
    <p:sldId id="258" r:id="rId7"/>
    <p:sldId id="259" r:id="rId8"/>
    <p:sldId id="261"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87" d="100"/>
          <a:sy n="87" d="100"/>
        </p:scale>
        <p:origin x="389" y="8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5/22/2025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5/22/2025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5/22/2025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5/22/2025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1433876" y="2274155"/>
            <a:ext cx="9820277" cy="2183545"/>
          </a:xfrm>
        </p:spPr>
        <p:txBody>
          <a:bodyPr>
            <a:normAutofit fontScale="90000"/>
          </a:bodyPr>
          <a:lstStyle/>
          <a:p>
            <a:r>
              <a:rPr lang="en-US" sz="4400" b="1" dirty="0">
                <a:latin typeface="Perpetua Titling MT" panose="02020502060505020804" pitchFamily="18" charset="0"/>
              </a:rPr>
              <a:t>DEVELOPMENT</a:t>
            </a:r>
            <a:r>
              <a:rPr lang="en-US" sz="4400" dirty="0">
                <a:latin typeface="Perpetua Titling MT" panose="02020502060505020804" pitchFamily="18" charset="0"/>
              </a:rPr>
              <a:t> </a:t>
            </a:r>
            <a:r>
              <a:rPr lang="en-US" sz="4400" b="1" dirty="0">
                <a:latin typeface="Perpetua Titling MT" panose="02020502060505020804" pitchFamily="18" charset="0"/>
              </a:rPr>
              <a:t>OF POINT-OF-SALE AND INVENTORY MANAGEMENT SYSTEM FOR TROY-DEAN MOTORPARTS</a:t>
            </a:r>
          </a:p>
        </p:txBody>
      </p:sp>
    </p:spTree>
    <p:extLst>
      <p:ext uri="{BB962C8B-B14F-4D97-AF65-F5344CB8AC3E}">
        <p14:creationId xmlns:p14="http://schemas.microsoft.com/office/powerpoint/2010/main" val="18193592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3" y="618518"/>
            <a:ext cx="4954587" cy="814628"/>
          </a:xfrm>
        </p:spPr>
        <p:txBody>
          <a:bodyPr>
            <a:normAutofit/>
          </a:bodyPr>
          <a:lstStyle/>
          <a:p>
            <a:r>
              <a:rPr lang="en-US" sz="1800" b="1" dirty="0">
                <a:latin typeface="Palatino Linotype" panose="02040502050505030304" pitchFamily="18" charset="0"/>
              </a:rPr>
              <a:t>INTRODUCTION</a:t>
            </a:r>
          </a:p>
        </p:txBody>
      </p:sp>
      <p:sp>
        <p:nvSpPr>
          <p:cNvPr id="16" name="TextBox 15">
            <a:extLst>
              <a:ext uri="{FF2B5EF4-FFF2-40B4-BE49-F238E27FC236}">
                <a16:creationId xmlns:a16="http://schemas.microsoft.com/office/drawing/2014/main" id="{6B495CB7-DBF1-455D-988D-E727105E2920}"/>
              </a:ext>
            </a:extLst>
          </p:cNvPr>
          <p:cNvSpPr txBox="1"/>
          <p:nvPr/>
        </p:nvSpPr>
        <p:spPr>
          <a:xfrm>
            <a:off x="3369365" y="1351722"/>
            <a:ext cx="3995531" cy="667506"/>
          </a:xfrm>
          <a:prstGeom prst="rect">
            <a:avLst/>
          </a:prstGeom>
          <a:noFill/>
        </p:spPr>
        <p:txBody>
          <a:bodyPr wrap="square" rtlCol="0">
            <a:spAutoFit/>
          </a:bodyPr>
          <a:lstStyle/>
          <a:p>
            <a:endParaRPr lang="en-US" dirty="0"/>
          </a:p>
        </p:txBody>
      </p:sp>
      <p:sp>
        <p:nvSpPr>
          <p:cNvPr id="17" name="TextBox 16">
            <a:extLst>
              <a:ext uri="{FF2B5EF4-FFF2-40B4-BE49-F238E27FC236}">
                <a16:creationId xmlns:a16="http://schemas.microsoft.com/office/drawing/2014/main" id="{E5D51232-2347-4346-8CDF-CEC41EE3C9B6}"/>
              </a:ext>
            </a:extLst>
          </p:cNvPr>
          <p:cNvSpPr txBox="1"/>
          <p:nvPr/>
        </p:nvSpPr>
        <p:spPr>
          <a:xfrm>
            <a:off x="3521765" y="1504122"/>
            <a:ext cx="3995531" cy="667506"/>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575EEBCE-65A3-4230-8D9B-D95D2DAAA36C}"/>
              </a:ext>
            </a:extLst>
          </p:cNvPr>
          <p:cNvSpPr txBox="1"/>
          <p:nvPr/>
        </p:nvSpPr>
        <p:spPr>
          <a:xfrm>
            <a:off x="5356713" y="433852"/>
            <a:ext cx="1478573" cy="369332"/>
          </a:xfrm>
          <a:prstGeom prst="rect">
            <a:avLst/>
          </a:prstGeom>
          <a:noFill/>
        </p:spPr>
        <p:txBody>
          <a:bodyPr wrap="square" rtlCol="0">
            <a:spAutoFit/>
          </a:bodyPr>
          <a:lstStyle/>
          <a:p>
            <a:r>
              <a:rPr lang="en-US" dirty="0">
                <a:latin typeface="Palatino Linotype" panose="02040502050505030304" pitchFamily="18" charset="0"/>
              </a:rPr>
              <a:t>CHAPTER 1</a:t>
            </a:r>
          </a:p>
        </p:txBody>
      </p:sp>
      <p:sp>
        <p:nvSpPr>
          <p:cNvPr id="5" name="Rectangle 2">
            <a:extLst>
              <a:ext uri="{FF2B5EF4-FFF2-40B4-BE49-F238E27FC236}">
                <a16:creationId xmlns:a16="http://schemas.microsoft.com/office/drawing/2014/main" id="{1241596A-E86B-46B4-A866-1BCF0EAFD206}"/>
              </a:ext>
            </a:extLst>
          </p:cNvPr>
          <p:cNvSpPr>
            <a:spLocks noChangeArrowheads="1"/>
          </p:cNvSpPr>
          <p:nvPr/>
        </p:nvSpPr>
        <p:spPr bwMode="auto">
          <a:xfrm>
            <a:off x="1371600" y="1294647"/>
            <a:ext cx="978583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fornian FB" panose="0207040306080B030204" pitchFamily="18" charset="0"/>
              </a:rPr>
              <a:t>Troy-Dean Motor Parts, a small shop in </a:t>
            </a:r>
            <a:r>
              <a:rPr kumimoji="0" lang="en-US" altLang="en-US" sz="1800" b="0" i="0" u="none" strike="noStrike" cap="none" normalizeH="0" baseline="0" dirty="0" err="1">
                <a:ln>
                  <a:noFill/>
                </a:ln>
                <a:solidFill>
                  <a:schemeClr val="tx1"/>
                </a:solidFill>
                <a:effectLst/>
                <a:latin typeface="Californian FB" panose="0207040306080B030204" pitchFamily="18" charset="0"/>
              </a:rPr>
              <a:t>Poblacion</a:t>
            </a:r>
            <a:r>
              <a:rPr kumimoji="0" lang="en-US" altLang="en-US" sz="1800" b="0" i="0" u="none" strike="noStrike" cap="none" normalizeH="0" baseline="0" dirty="0">
                <a:ln>
                  <a:noFill/>
                </a:ln>
                <a:solidFill>
                  <a:schemeClr val="tx1"/>
                </a:solidFill>
                <a:effectLst/>
                <a:latin typeface="Californian FB" panose="0207040306080B030204" pitchFamily="18" charset="0"/>
              </a:rPr>
              <a:t>, </a:t>
            </a:r>
            <a:r>
              <a:rPr kumimoji="0" lang="en-US" altLang="en-US" sz="1800" b="0" i="0" u="none" strike="noStrike" cap="none" normalizeH="0" baseline="0" dirty="0" err="1">
                <a:ln>
                  <a:noFill/>
                </a:ln>
                <a:solidFill>
                  <a:schemeClr val="tx1"/>
                </a:solidFill>
                <a:effectLst/>
                <a:latin typeface="Californian FB" panose="0207040306080B030204" pitchFamily="18" charset="0"/>
              </a:rPr>
              <a:t>Tagoloan</a:t>
            </a:r>
            <a:r>
              <a:rPr kumimoji="0" lang="en-US" altLang="en-US" sz="1800" b="0" i="0" u="none" strike="noStrike" cap="none" normalizeH="0" baseline="0" dirty="0">
                <a:ln>
                  <a:noFill/>
                </a:ln>
                <a:solidFill>
                  <a:schemeClr val="tx1"/>
                </a:solidFill>
                <a:effectLst/>
                <a:latin typeface="Californian FB" panose="0207040306080B030204" pitchFamily="18" charset="0"/>
              </a:rPr>
              <a:t> run by the owner Mike Rosa, sells motorcycle parts like a convenience store. Right now, everything is done manually from listing items to tracking sales and expenses which often leads to errors and missing records, especially when things get busy.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fornian FB" panose="0207040306080B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fornian FB" panose="0207040306080B030204" pitchFamily="18" charset="0"/>
              </a:rPr>
              <a:t>To help fix this, a Point of Sale (POS) and Inventory Management System is being developed. It will automate sales, update stock in real-time, and generate reports, making things faster, more accurate, and easier for Mike.</a:t>
            </a:r>
          </a:p>
        </p:txBody>
      </p:sp>
    </p:spTree>
    <p:extLst>
      <p:ext uri="{BB962C8B-B14F-4D97-AF65-F5344CB8AC3E}">
        <p14:creationId xmlns:p14="http://schemas.microsoft.com/office/powerpoint/2010/main" val="325368974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803483" y="151379"/>
            <a:ext cx="9905998" cy="1478570"/>
          </a:xfrm>
        </p:spPr>
        <p:txBody>
          <a:bodyPr>
            <a:normAutofit/>
          </a:bodyPr>
          <a:lstStyle/>
          <a:p>
            <a:r>
              <a:rPr lang="en-US" sz="1800" b="1" dirty="0">
                <a:latin typeface="Palatino Linotype" panose="02040502050505030304" pitchFamily="18" charset="0"/>
              </a:rPr>
              <a:t>OBJECTIVES</a:t>
            </a: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a:xfrm>
            <a:off x="1120387" y="890664"/>
            <a:ext cx="10348223" cy="3541714"/>
          </a:xfrm>
        </p:spPr>
        <p:txBody>
          <a:bodyPr>
            <a:noAutofit/>
          </a:bodyPr>
          <a:lstStyle/>
          <a:p>
            <a:pPr marL="0" indent="0">
              <a:buNone/>
            </a:pPr>
            <a:r>
              <a:rPr lang="en-US" sz="1800" b="1" dirty="0"/>
              <a:t> </a:t>
            </a:r>
            <a:endParaRPr lang="en-US" sz="1800" dirty="0"/>
          </a:p>
          <a:p>
            <a:pPr marL="0" lvl="0" indent="0" algn="just">
              <a:buNone/>
            </a:pPr>
            <a:r>
              <a:rPr lang="en-US" sz="1800" dirty="0">
                <a:latin typeface="Californian FB" panose="0207040306080B030204" pitchFamily="18" charset="0"/>
              </a:rPr>
              <a:t>The main goal of this project is to develop a system that automates sales and inventory management for a </a:t>
            </a:r>
            <a:r>
              <a:rPr lang="en-US" sz="1800" dirty="0" err="1">
                <a:latin typeface="Californian FB" panose="0207040306080B030204" pitchFamily="18" charset="0"/>
              </a:rPr>
              <a:t>motorparts</a:t>
            </a:r>
            <a:r>
              <a:rPr lang="en-US" sz="1800" dirty="0">
                <a:latin typeface="Californian FB" panose="0207040306080B030204" pitchFamily="18" charset="0"/>
              </a:rPr>
              <a:t> store in </a:t>
            </a:r>
            <a:r>
              <a:rPr lang="en-US" sz="1800" dirty="0" err="1">
                <a:latin typeface="Californian FB" panose="0207040306080B030204" pitchFamily="18" charset="0"/>
              </a:rPr>
              <a:t>Poblacion</a:t>
            </a:r>
            <a:r>
              <a:rPr lang="en-US" sz="1800" dirty="0">
                <a:latin typeface="Californian FB" panose="0207040306080B030204" pitchFamily="18" charset="0"/>
              </a:rPr>
              <a:t>, </a:t>
            </a:r>
            <a:r>
              <a:rPr lang="en-US" sz="1800" dirty="0" err="1">
                <a:latin typeface="Californian FB" panose="0207040306080B030204" pitchFamily="18" charset="0"/>
              </a:rPr>
              <a:t>Tagoloan</a:t>
            </a:r>
            <a:r>
              <a:rPr lang="en-US" sz="1800" dirty="0">
                <a:latin typeface="Californian FB" panose="0207040306080B030204" pitchFamily="18" charset="0"/>
              </a:rPr>
              <a:t>. Specifically, the system will monitor product stocks with restock alerts, record and compute sales accurately, and generate detailed sales and inventory reports. It will also include process and data models for better understanding of the store’s operations, and feature a user-friendly admin interface to make managing everything easier.</a:t>
            </a:r>
          </a:p>
          <a:p>
            <a:pPr marL="0" lvl="0" indent="0" algn="just">
              <a:buNone/>
            </a:pPr>
            <a:endParaRPr lang="en-US" sz="1800" dirty="0">
              <a:latin typeface="Californian FB" panose="0207040306080B030204" pitchFamily="18" charset="0"/>
            </a:endParaRPr>
          </a:p>
        </p:txBody>
      </p:sp>
    </p:spTree>
    <p:extLst>
      <p:ext uri="{BB962C8B-B14F-4D97-AF65-F5344CB8AC3E}">
        <p14:creationId xmlns:p14="http://schemas.microsoft.com/office/powerpoint/2010/main" val="217217949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965568" y="-143570"/>
            <a:ext cx="9905998" cy="1478570"/>
          </a:xfrm>
        </p:spPr>
        <p:txBody>
          <a:bodyPr>
            <a:normAutofit/>
          </a:bodyPr>
          <a:lstStyle/>
          <a:p>
            <a:r>
              <a:rPr lang="en-US" sz="2000" b="1" dirty="0">
                <a:latin typeface="Palatino Linotype" panose="02040502050505030304" pitchFamily="18" charset="0"/>
              </a:rPr>
              <a:t>SCOPE AND LIMITATION</a:t>
            </a:r>
            <a:br>
              <a:rPr lang="en-US" sz="2000" b="1" dirty="0">
                <a:latin typeface="Palatino Linotype" panose="02040502050505030304" pitchFamily="18" charset="0"/>
              </a:rPr>
            </a:br>
            <a:br>
              <a:rPr lang="en-US" sz="2000" b="1" dirty="0">
                <a:latin typeface="Palatino Linotype" panose="02040502050505030304" pitchFamily="18" charset="0"/>
              </a:rPr>
            </a:br>
            <a:r>
              <a:rPr lang="en-US" sz="1400" b="1" dirty="0">
                <a:latin typeface="Palatino Linotype" panose="02040502050505030304" pitchFamily="18" charset="0"/>
              </a:rPr>
              <a:t> </a:t>
            </a:r>
            <a:r>
              <a:rPr lang="en-US" sz="1800" b="1" dirty="0">
                <a:latin typeface="Palatino Linotype" panose="02040502050505030304" pitchFamily="18" charset="0"/>
              </a:rPr>
              <a:t>SCOPE:</a:t>
            </a:r>
          </a:p>
        </p:txBody>
      </p:sp>
      <p:sp>
        <p:nvSpPr>
          <p:cNvPr id="15" name="Content Placeholder 10">
            <a:extLst>
              <a:ext uri="{FF2B5EF4-FFF2-40B4-BE49-F238E27FC236}">
                <a16:creationId xmlns:a16="http://schemas.microsoft.com/office/drawing/2014/main" id="{3B37C0F5-2F27-412C-B907-1F2F45E2C783}"/>
              </a:ext>
            </a:extLst>
          </p:cNvPr>
          <p:cNvSpPr>
            <a:spLocks noGrp="1"/>
          </p:cNvSpPr>
          <p:nvPr>
            <p:ph idx="1"/>
          </p:nvPr>
        </p:nvSpPr>
        <p:spPr>
          <a:xfrm>
            <a:off x="1075470" y="1124072"/>
            <a:ext cx="10041059" cy="1416905"/>
          </a:xfrm>
        </p:spPr>
        <p:txBody>
          <a:bodyPr>
            <a:noAutofit/>
          </a:bodyPr>
          <a:lstStyle/>
          <a:p>
            <a:pPr marL="0" indent="0" algn="just">
              <a:buNone/>
            </a:pPr>
            <a:r>
              <a:rPr lang="en-US" sz="1800" dirty="0">
                <a:latin typeface="Californian FB" panose="0207040306080B030204" pitchFamily="18" charset="0"/>
              </a:rPr>
              <a:t>	This study aims to design and develop a Sales and Inventory System for TROY-DEAN </a:t>
            </a:r>
            <a:r>
              <a:rPr lang="en-US" sz="1800" dirty="0" err="1">
                <a:latin typeface="Californian FB" panose="0207040306080B030204" pitchFamily="18" charset="0"/>
              </a:rPr>
              <a:t>Motorparts</a:t>
            </a:r>
            <a:r>
              <a:rPr lang="en-US" sz="1800" dirty="0">
                <a:latin typeface="Californian FB" panose="0207040306080B030204" pitchFamily="18" charset="0"/>
              </a:rPr>
              <a:t> in </a:t>
            </a:r>
            <a:r>
              <a:rPr lang="en-US" sz="1800" dirty="0" err="1">
                <a:latin typeface="Californian FB" panose="0207040306080B030204" pitchFamily="18" charset="0"/>
              </a:rPr>
              <a:t>Poblacion</a:t>
            </a:r>
            <a:r>
              <a:rPr lang="en-US" sz="1800" dirty="0">
                <a:latin typeface="Californian FB" panose="0207040306080B030204" pitchFamily="18" charset="0"/>
              </a:rPr>
              <a:t>, </a:t>
            </a:r>
            <a:r>
              <a:rPr lang="en-US" sz="1800" dirty="0" err="1">
                <a:latin typeface="Californian FB" panose="0207040306080B030204" pitchFamily="18" charset="0"/>
              </a:rPr>
              <a:t>Tagoloan</a:t>
            </a:r>
            <a:r>
              <a:rPr lang="en-US" sz="1800" dirty="0">
                <a:latin typeface="Californian FB" panose="0207040306080B030204" pitchFamily="18" charset="0"/>
              </a:rPr>
              <a:t> to improve the accuracy, efficiency, and reliability of managing sales and inventory with real-time tracking. Key features include Item management, product categorization, real-time inventory monitoring with alerts, automatic price calculations, customer record keeping, sales tracking, a user-friendly interface, and secure access controls.</a:t>
            </a:r>
          </a:p>
          <a:p>
            <a:pPr marL="0" indent="0" algn="just">
              <a:buNone/>
            </a:pPr>
            <a:endParaRPr lang="en-US" sz="1800" dirty="0">
              <a:latin typeface="Californian FB" panose="0207040306080B030204" pitchFamily="18" charset="0"/>
            </a:endParaRPr>
          </a:p>
          <a:p>
            <a:pPr marL="0" indent="0" algn="just">
              <a:buNone/>
            </a:pPr>
            <a:r>
              <a:rPr lang="en-US" sz="1800" b="1" dirty="0">
                <a:latin typeface="Palatino Linotype" panose="02040502050505030304" pitchFamily="18" charset="0"/>
              </a:rPr>
              <a:t>LIMITATION:</a:t>
            </a:r>
          </a:p>
          <a:p>
            <a:pPr lvl="1" algn="just"/>
            <a:r>
              <a:rPr lang="en-US" sz="1800" dirty="0">
                <a:latin typeface="Californian FB" panose="0207040306080B030204" pitchFamily="18" charset="0"/>
                <a:ea typeface="Tahoma" panose="020B0604030504040204" pitchFamily="34" charset="0"/>
                <a:cs typeface="Tahoma" panose="020B0604030504040204" pitchFamily="34" charset="0"/>
              </a:rPr>
              <a:t>Limited Access: Only the admin can use the system.</a:t>
            </a:r>
          </a:p>
          <a:p>
            <a:pPr lvl="1" algn="just"/>
            <a:r>
              <a:rPr lang="en-US" sz="1800" dirty="0">
                <a:latin typeface="Californian FB" panose="0207040306080B030204" pitchFamily="18" charset="0"/>
                <a:ea typeface="Tahoma" panose="020B0604030504040204" pitchFamily="34" charset="0"/>
                <a:cs typeface="Tahoma" panose="020B0604030504040204" pitchFamily="34" charset="0"/>
              </a:rPr>
              <a:t>Needs Maintenance: The system needs regular updates to keep it working well.</a:t>
            </a:r>
          </a:p>
          <a:p>
            <a:pPr lvl="1" algn="just"/>
            <a:r>
              <a:rPr lang="en-US" sz="1800" dirty="0">
                <a:latin typeface="Californian FB" panose="0207040306080B030204" pitchFamily="18" charset="0"/>
                <a:ea typeface="Tahoma" panose="020B0604030504040204" pitchFamily="34" charset="0"/>
                <a:cs typeface="Tahoma" panose="020B0604030504040204" pitchFamily="34" charset="0"/>
              </a:rPr>
              <a:t>Offline Limits: Only basic features may work without internet.</a:t>
            </a:r>
          </a:p>
          <a:p>
            <a:pPr lvl="1" algn="just"/>
            <a:r>
              <a:rPr lang="en-US" sz="1800" dirty="0">
                <a:latin typeface="Californian FB" panose="0207040306080B030204" pitchFamily="18" charset="0"/>
                <a:ea typeface="Tahoma" panose="020B0604030504040204" pitchFamily="34" charset="0"/>
                <a:cs typeface="Tahoma" panose="020B0604030504040204" pitchFamily="34" charset="0"/>
              </a:rPr>
              <a:t>Internet Needed: A stable internet connection is required for full use.</a:t>
            </a:r>
          </a:p>
          <a:p>
            <a:pPr marL="0" indent="0" algn="just">
              <a:buNone/>
            </a:pPr>
            <a:endParaRPr lang="en-US" sz="1800" dirty="0">
              <a:latin typeface="Californian FB" panose="0207040306080B030204" pitchFamily="18" charset="0"/>
            </a:endParaRPr>
          </a:p>
          <a:p>
            <a:pPr marL="0" indent="0" algn="just">
              <a:buNone/>
            </a:pPr>
            <a:endParaRPr lang="en-US" sz="1800" dirty="0">
              <a:latin typeface="Californian FB" panose="0207040306080B030204" pitchFamily="18" charset="0"/>
            </a:endParaRPr>
          </a:p>
        </p:txBody>
      </p:sp>
    </p:spTree>
    <p:extLst>
      <p:ext uri="{BB962C8B-B14F-4D97-AF65-F5344CB8AC3E}">
        <p14:creationId xmlns:p14="http://schemas.microsoft.com/office/powerpoint/2010/main" val="119341702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807305" y="117356"/>
            <a:ext cx="9905998" cy="1478570"/>
          </a:xfrm>
        </p:spPr>
        <p:txBody>
          <a:bodyPr>
            <a:normAutofit/>
          </a:bodyPr>
          <a:lstStyle/>
          <a:p>
            <a:r>
              <a:rPr lang="en-US" sz="1800" b="1" dirty="0">
                <a:latin typeface="Palatino Linotype" panose="02040502050505030304" pitchFamily="18" charset="0"/>
              </a:rPr>
              <a:t>                                                         </a:t>
            </a:r>
            <a:r>
              <a:rPr lang="en-US" sz="2000" b="1" dirty="0">
                <a:latin typeface="Palatino Linotype" panose="02040502050505030304" pitchFamily="18" charset="0"/>
              </a:rPr>
              <a:t>REVIEW RELATED LITERATURE</a:t>
            </a:r>
            <a:endParaRPr lang="en-US" sz="1800" b="1" dirty="0">
              <a:latin typeface="Palatino Linotype" panose="02040502050505030304" pitchFamily="18" charset="0"/>
            </a:endParaRP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a:xfrm>
            <a:off x="665957" y="1335087"/>
            <a:ext cx="11317286" cy="3541714"/>
          </a:xfrm>
        </p:spPr>
        <p:txBody>
          <a:bodyPr>
            <a:noAutofit/>
          </a:bodyPr>
          <a:lstStyle/>
          <a:p>
            <a:pPr marL="457200" lvl="1" indent="0" algn="just">
              <a:buNone/>
            </a:pPr>
            <a:r>
              <a:rPr lang="en-US" sz="1600" dirty="0">
                <a:latin typeface="Californian FB" panose="0207040306080B030204" pitchFamily="18" charset="0"/>
                <a:ea typeface="Tahoma" panose="020B0604030504040204" pitchFamily="34" charset="0"/>
                <a:cs typeface="Tahoma" panose="020B0604030504040204" pitchFamily="34" charset="0"/>
              </a:rPr>
              <a:t>Hasan et al. (2022)</a:t>
            </a:r>
          </a:p>
          <a:p>
            <a:pPr lvl="1" algn="just"/>
            <a:r>
              <a:rPr lang="en-US" sz="1600" dirty="0">
                <a:latin typeface="Californian FB" panose="0207040306080B030204" pitchFamily="18" charset="0"/>
                <a:ea typeface="Tahoma" panose="020B0604030504040204" pitchFamily="34" charset="0"/>
                <a:cs typeface="Tahoma" panose="020B0604030504040204" pitchFamily="34" charset="0"/>
              </a:rPr>
              <a:t>It highlights how using technology improves efficiency and helps solve common problems in stock and sales management.</a:t>
            </a:r>
          </a:p>
          <a:p>
            <a:pPr lvl="1" algn="just"/>
            <a:r>
              <a:rPr lang="en-US" sz="1600" dirty="0">
                <a:latin typeface="Californian FB" panose="0207040306080B030204" pitchFamily="18" charset="0"/>
                <a:ea typeface="Tahoma" panose="020B0604030504040204" pitchFamily="34" charset="0"/>
                <a:cs typeface="Tahoma" panose="020B0604030504040204" pitchFamily="34" charset="0"/>
              </a:rPr>
              <a:t>The research shows that tech tools play a key role in streamlining operations in motor parts businesses.</a:t>
            </a:r>
          </a:p>
          <a:p>
            <a:pPr marL="457200" lvl="1" indent="0" algn="just">
              <a:buNone/>
            </a:pPr>
            <a:endParaRPr lang="en-US" sz="1600" dirty="0">
              <a:latin typeface="Californian FB" panose="0207040306080B030204" pitchFamily="18" charset="0"/>
              <a:ea typeface="Tahoma" panose="020B0604030504040204" pitchFamily="34" charset="0"/>
              <a:cs typeface="Tahoma" panose="020B0604030504040204" pitchFamily="34" charset="0"/>
            </a:endParaRPr>
          </a:p>
          <a:p>
            <a:pPr marL="457200" lvl="1" indent="0" algn="just">
              <a:buNone/>
            </a:pPr>
            <a:r>
              <a:rPr lang="en-US" sz="1600" dirty="0">
                <a:latin typeface="Californian FB" panose="0207040306080B030204" pitchFamily="18" charset="0"/>
                <a:ea typeface="Tahoma" panose="020B0604030504040204" pitchFamily="34" charset="0"/>
                <a:cs typeface="Tahoma" panose="020B0604030504040204" pitchFamily="34" charset="0"/>
              </a:rPr>
              <a:t>Rahman et al. (2022)</a:t>
            </a:r>
          </a:p>
          <a:p>
            <a:pPr lvl="1" algn="just"/>
            <a:r>
              <a:rPr lang="en-US" sz="1600" dirty="0">
                <a:latin typeface="Californian FB" panose="0207040306080B030204" pitchFamily="18" charset="0"/>
                <a:ea typeface="Tahoma" panose="020B0604030504040204" pitchFamily="34" charset="0"/>
                <a:cs typeface="Tahoma" panose="020B0604030504040204" pitchFamily="34" charset="0"/>
              </a:rPr>
              <a:t>These systems help reduce human errors, improve inventory tracking, and support better decision-making in real-time.</a:t>
            </a:r>
          </a:p>
          <a:p>
            <a:pPr lvl="1" algn="just"/>
            <a:r>
              <a:rPr lang="en-US" sz="1600" dirty="0">
                <a:latin typeface="Californian FB" panose="0207040306080B030204" pitchFamily="18" charset="0"/>
                <a:ea typeface="Tahoma" panose="020B0604030504040204" pitchFamily="34" charset="0"/>
                <a:cs typeface="Tahoma" panose="020B0604030504040204" pitchFamily="34" charset="0"/>
              </a:rPr>
              <a:t>The use of technology is shown to improve operations and customer satisfaction.</a:t>
            </a:r>
          </a:p>
          <a:p>
            <a:pPr lvl="1" algn="just"/>
            <a:endParaRPr lang="en-US" sz="1600" dirty="0">
              <a:latin typeface="Californian FB" panose="0207040306080B030204" pitchFamily="18" charset="0"/>
              <a:ea typeface="Tahoma" panose="020B0604030504040204" pitchFamily="34" charset="0"/>
              <a:cs typeface="Tahoma" panose="020B0604030504040204" pitchFamily="34" charset="0"/>
            </a:endParaRPr>
          </a:p>
          <a:p>
            <a:pPr marL="457200" lvl="1" indent="0" algn="just">
              <a:buNone/>
            </a:pPr>
            <a:r>
              <a:rPr lang="en-US" sz="1600" dirty="0">
                <a:latin typeface="Californian FB" panose="0207040306080B030204" pitchFamily="18" charset="0"/>
                <a:ea typeface="Tahoma" panose="020B0604030504040204" pitchFamily="34" charset="0"/>
                <a:cs typeface="Tahoma" panose="020B0604030504040204" pitchFamily="34" charset="0"/>
              </a:rPr>
              <a:t>Khalid Shah, (2023)</a:t>
            </a:r>
          </a:p>
          <a:p>
            <a:pPr lvl="1" algn="just"/>
            <a:r>
              <a:rPr lang="en-US" sz="1600" dirty="0">
                <a:latin typeface="Californian FB" panose="0207040306080B030204" pitchFamily="18" charset="0"/>
                <a:ea typeface="Tahoma" panose="020B0604030504040204" pitchFamily="34" charset="0"/>
                <a:cs typeface="Tahoma" panose="020B0604030504040204" pitchFamily="34" charset="0"/>
              </a:rPr>
              <a:t>This study presents a POS (Point of Sale) system as a better option than manual methods for managing stores.</a:t>
            </a:r>
          </a:p>
          <a:p>
            <a:pPr lvl="1" algn="just"/>
            <a:r>
              <a:rPr lang="en-US" sz="1600" dirty="0">
                <a:latin typeface="Californian FB" panose="0207040306080B030204" pitchFamily="18" charset="0"/>
                <a:ea typeface="Tahoma" panose="020B0604030504040204" pitchFamily="34" charset="0"/>
                <a:cs typeface="Tahoma" panose="020B0604030504040204" pitchFamily="34" charset="0"/>
              </a:rPr>
              <a:t>It is web-based with a user-friendly design, so even users without computer experience can use it easily.</a:t>
            </a:r>
          </a:p>
          <a:p>
            <a:pPr marL="457200" lvl="1" indent="0" algn="just">
              <a:buNone/>
            </a:pPr>
            <a:endParaRPr lang="en-US" sz="1600" dirty="0">
              <a:latin typeface="Californian FB" panose="0207040306080B030204" pitchFamily="18" charset="0"/>
              <a:ea typeface="Tahoma" panose="020B0604030504040204" pitchFamily="34" charset="0"/>
              <a:cs typeface="Tahoma" panose="020B0604030504040204" pitchFamily="34" charset="0"/>
            </a:endParaRPr>
          </a:p>
          <a:p>
            <a:pPr lvl="1"/>
            <a:endParaRPr lang="en-US" sz="1600" dirty="0">
              <a:latin typeface="Californian FB" panose="0207040306080B030204" pitchFamily="18" charset="0"/>
              <a:ea typeface="Tahoma" panose="020B0604030504040204" pitchFamily="34" charset="0"/>
              <a:cs typeface="Tahoma" panose="020B0604030504040204" pitchFamily="34" charset="0"/>
            </a:endParaRPr>
          </a:p>
          <a:p>
            <a:pPr lvl="1"/>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72A82EEB-E416-4F5A-966A-E1F658EF3B35}"/>
              </a:ext>
            </a:extLst>
          </p:cNvPr>
          <p:cNvSpPr txBox="1"/>
          <p:nvPr/>
        </p:nvSpPr>
        <p:spPr>
          <a:xfrm>
            <a:off x="5357446" y="117356"/>
            <a:ext cx="1477108" cy="369332"/>
          </a:xfrm>
          <a:prstGeom prst="rect">
            <a:avLst/>
          </a:prstGeom>
          <a:noFill/>
        </p:spPr>
        <p:txBody>
          <a:bodyPr wrap="square" rtlCol="0">
            <a:spAutoFit/>
          </a:bodyPr>
          <a:lstStyle/>
          <a:p>
            <a:r>
              <a:rPr lang="en-US" dirty="0">
                <a:latin typeface="Palatino Linotype" panose="02040502050505030304" pitchFamily="18" charset="0"/>
              </a:rPr>
              <a:t>CHAPTER 2</a:t>
            </a:r>
          </a:p>
        </p:txBody>
      </p:sp>
    </p:spTree>
    <p:extLst>
      <p:ext uri="{BB962C8B-B14F-4D97-AF65-F5344CB8AC3E}">
        <p14:creationId xmlns:p14="http://schemas.microsoft.com/office/powerpoint/2010/main" val="134831811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a:xfrm>
            <a:off x="1009527" y="1024426"/>
            <a:ext cx="9905999" cy="3541714"/>
          </a:xfrm>
        </p:spPr>
        <p:txBody>
          <a:bodyPr vert="horz" lIns="91440" tIns="45720" rIns="91440" bIns="45720" rtlCol="0" anchor="t">
            <a:normAutofit fontScale="25000" lnSpcReduction="20000"/>
          </a:bodyPr>
          <a:lstStyle/>
          <a:p>
            <a:pPr marL="0" lvl="0" indent="0" algn="just">
              <a:buNone/>
            </a:pPr>
            <a:r>
              <a:rPr lang="en-US" sz="6400" dirty="0">
                <a:latin typeface="Californian FB" panose="0207040306080B030204" pitchFamily="18" charset="0"/>
                <a:ea typeface="Tahoma" panose="020B0604030504040204" pitchFamily="34" charset="0"/>
                <a:cs typeface="Tahoma" panose="020B0604030504040204" pitchFamily="34" charset="0"/>
              </a:rPr>
              <a:t>Rodriguez and Hernandez (2020)</a:t>
            </a:r>
          </a:p>
          <a:p>
            <a:pPr lvl="0" algn="just"/>
            <a:r>
              <a:rPr lang="en-US" sz="6400" dirty="0">
                <a:latin typeface="Californian FB" panose="0207040306080B030204" pitchFamily="18" charset="0"/>
                <a:ea typeface="Tahoma" panose="020B0604030504040204" pitchFamily="34" charset="0"/>
                <a:cs typeface="Tahoma" panose="020B0604030504040204" pitchFamily="34" charset="0"/>
              </a:rPr>
              <a:t> Developed a web-based system with a dashboard to monitor sales and inventory.</a:t>
            </a:r>
          </a:p>
          <a:p>
            <a:pPr lvl="0" algn="just"/>
            <a:r>
              <a:rPr lang="en-US" sz="6400" dirty="0">
                <a:latin typeface="Californian FB" panose="0207040306080B030204" pitchFamily="18" charset="0"/>
                <a:ea typeface="Tahoma" panose="020B0604030504040204" pitchFamily="34" charset="0"/>
                <a:cs typeface="Tahoma" panose="020B0604030504040204" pitchFamily="34" charset="0"/>
              </a:rPr>
              <a:t>The dashboard shows real-time sales trends, inventory issues, and key performance indicators to support better decision-making and improve organizational efficiency.</a:t>
            </a:r>
          </a:p>
          <a:p>
            <a:pPr lvl="0" algn="just"/>
            <a:endParaRPr lang="en-US" sz="6400" dirty="0">
              <a:latin typeface="Californian FB" panose="0207040306080B030204" pitchFamily="18" charset="0"/>
              <a:ea typeface="Tahoma" panose="020B0604030504040204" pitchFamily="34" charset="0"/>
              <a:cs typeface="Tahoma" panose="020B0604030504040204" pitchFamily="34" charset="0"/>
            </a:endParaRPr>
          </a:p>
          <a:p>
            <a:pPr marL="0" lvl="0" indent="0" algn="just">
              <a:buNone/>
            </a:pPr>
            <a:r>
              <a:rPr lang="en-US" sz="6400" dirty="0" err="1">
                <a:latin typeface="Californian FB" panose="0207040306080B030204" pitchFamily="18" charset="0"/>
                <a:ea typeface="Tahoma" panose="020B0604030504040204" pitchFamily="34" charset="0"/>
                <a:cs typeface="Tahoma" panose="020B0604030504040204" pitchFamily="34" charset="0"/>
              </a:rPr>
              <a:t>Bulawin</a:t>
            </a:r>
            <a:r>
              <a:rPr lang="en-US" sz="6400" dirty="0">
                <a:latin typeface="Californian FB" panose="0207040306080B030204" pitchFamily="18" charset="0"/>
                <a:ea typeface="Tahoma" panose="020B0604030504040204" pitchFamily="34" charset="0"/>
                <a:cs typeface="Tahoma" panose="020B0604030504040204" pitchFamily="34" charset="0"/>
              </a:rPr>
              <a:t> et al. (2024)</a:t>
            </a:r>
          </a:p>
          <a:p>
            <a:pPr algn="just"/>
            <a:r>
              <a:rPr lang="en-US" sz="6400" dirty="0">
                <a:latin typeface="Californian FB" panose="0207040306080B030204" pitchFamily="18" charset="0"/>
                <a:ea typeface="Tahoma" panose="020B0604030504040204" pitchFamily="34" charset="0"/>
                <a:cs typeface="Tahoma" panose="020B0604030504040204" pitchFamily="34" charset="0"/>
              </a:rPr>
              <a:t> Emphasizes using inventory systems tailored to specific business needs.</a:t>
            </a:r>
          </a:p>
          <a:p>
            <a:pPr algn="just"/>
            <a:r>
              <a:rPr lang="en-US" sz="6400" dirty="0">
                <a:latin typeface="Californian FB" panose="0207040306080B030204" pitchFamily="18" charset="0"/>
                <a:ea typeface="Tahoma" panose="020B0604030504040204" pitchFamily="34" charset="0"/>
                <a:cs typeface="Tahoma" panose="020B0604030504040204" pitchFamily="34" charset="0"/>
              </a:rPr>
              <a:t>Accurate and flexible inventory systems reduce manual errors, maintain proper stock levels, and boost business performance and customer satisfaction.</a:t>
            </a:r>
          </a:p>
          <a:p>
            <a:pPr marL="0" indent="0" algn="just">
              <a:buNone/>
            </a:pPr>
            <a:endParaRPr lang="en-US" sz="6400" dirty="0">
              <a:latin typeface="Californian FB" panose="0207040306080B030204" pitchFamily="18" charset="0"/>
              <a:ea typeface="Tahoma" panose="020B0604030504040204" pitchFamily="34" charset="0"/>
              <a:cs typeface="Tahoma" panose="020B0604030504040204" pitchFamily="34" charset="0"/>
            </a:endParaRPr>
          </a:p>
          <a:p>
            <a:pPr marL="0" indent="0" algn="just">
              <a:buNone/>
            </a:pPr>
            <a:r>
              <a:rPr lang="en-US" sz="6400" dirty="0">
                <a:latin typeface="Californian FB" panose="0207040306080B030204" pitchFamily="18" charset="0"/>
              </a:rPr>
              <a:t>Smith et al. (2023)</a:t>
            </a:r>
          </a:p>
          <a:p>
            <a:pPr algn="just"/>
            <a:r>
              <a:rPr lang="en-US" sz="6400" dirty="0">
                <a:latin typeface="Californian FB" panose="0207040306080B030204" pitchFamily="18" charset="0"/>
              </a:rPr>
              <a:t> Created a sales and inventory system to better organize and manage inventory items.</a:t>
            </a:r>
          </a:p>
          <a:p>
            <a:pPr algn="just"/>
            <a:r>
              <a:rPr lang="en-US" sz="6400" dirty="0">
                <a:latin typeface="Californian FB" panose="0207040306080B030204" pitchFamily="18" charset="0"/>
              </a:rPr>
              <a:t>Included detailed item categorization and tracking, which improved inventory control and operational accuracy.</a:t>
            </a:r>
          </a:p>
          <a:p>
            <a:endParaRPr lang="en-US" sz="6600" dirty="0"/>
          </a:p>
          <a:p>
            <a:pPr algn="just"/>
            <a:endParaRPr lang="en-US" sz="6400" dirty="0">
              <a:latin typeface="Californian FB" panose="0207040306080B030204" pitchFamily="18" charset="0"/>
              <a:ea typeface="Tahoma" panose="020B0604030504040204" pitchFamily="34" charset="0"/>
              <a:cs typeface="Tahoma" panose="020B0604030504040204" pitchFamily="34" charset="0"/>
            </a:endParaRPr>
          </a:p>
          <a:p>
            <a:pPr marL="0" lvl="0" indent="0">
              <a:buNone/>
            </a:pP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0261330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71A45-E259-49C3-85AD-0FD3C0FF2603}"/>
              </a:ext>
            </a:extLst>
          </p:cNvPr>
          <p:cNvSpPr txBox="1"/>
          <p:nvPr/>
        </p:nvSpPr>
        <p:spPr>
          <a:xfrm>
            <a:off x="3156438" y="439642"/>
            <a:ext cx="5336931" cy="369332"/>
          </a:xfrm>
          <a:prstGeom prst="rect">
            <a:avLst/>
          </a:prstGeom>
          <a:noFill/>
        </p:spPr>
        <p:txBody>
          <a:bodyPr wrap="square" rtlCol="0">
            <a:spAutoFit/>
          </a:bodyPr>
          <a:lstStyle/>
          <a:p>
            <a:pPr algn="ctr"/>
            <a:r>
              <a:rPr lang="en-US" b="1" dirty="0">
                <a:latin typeface="Palatino Linotype" panose="02040502050505030304" pitchFamily="18" charset="0"/>
              </a:rPr>
              <a:t>NORMALIZATION DATA MODELING</a:t>
            </a:r>
          </a:p>
        </p:txBody>
      </p:sp>
      <p:pic>
        <p:nvPicPr>
          <p:cNvPr id="4" name="Picture 3">
            <a:extLst>
              <a:ext uri="{FF2B5EF4-FFF2-40B4-BE49-F238E27FC236}">
                <a16:creationId xmlns:a16="http://schemas.microsoft.com/office/drawing/2014/main" id="{4BC92E2A-327F-4FE9-AC7C-3D9C8644E021}"/>
              </a:ext>
            </a:extLst>
          </p:cNvPr>
          <p:cNvPicPr>
            <a:picLocks noChangeAspect="1"/>
          </p:cNvPicPr>
          <p:nvPr/>
        </p:nvPicPr>
        <p:blipFill>
          <a:blip r:embed="rId2"/>
          <a:stretch>
            <a:fillRect/>
          </a:stretch>
        </p:blipFill>
        <p:spPr>
          <a:xfrm>
            <a:off x="1462638" y="1359990"/>
            <a:ext cx="9266723" cy="4138019"/>
          </a:xfrm>
          <a:prstGeom prst="rect">
            <a:avLst/>
          </a:prstGeom>
        </p:spPr>
      </p:pic>
      <p:sp>
        <p:nvSpPr>
          <p:cNvPr id="6" name="TextBox 5">
            <a:extLst>
              <a:ext uri="{FF2B5EF4-FFF2-40B4-BE49-F238E27FC236}">
                <a16:creationId xmlns:a16="http://schemas.microsoft.com/office/drawing/2014/main" id="{4C2BF070-CA96-4800-8372-756570291AAB}"/>
              </a:ext>
            </a:extLst>
          </p:cNvPr>
          <p:cNvSpPr txBox="1"/>
          <p:nvPr/>
        </p:nvSpPr>
        <p:spPr>
          <a:xfrm>
            <a:off x="1204546" y="807483"/>
            <a:ext cx="3437792" cy="369332"/>
          </a:xfrm>
          <a:prstGeom prst="rect">
            <a:avLst/>
          </a:prstGeom>
          <a:noFill/>
        </p:spPr>
        <p:txBody>
          <a:bodyPr wrap="square" rtlCol="0">
            <a:spAutoFit/>
          </a:bodyPr>
          <a:lstStyle/>
          <a:p>
            <a:r>
              <a:rPr lang="en-US" dirty="0"/>
              <a:t>TABLE 1. 1</a:t>
            </a:r>
            <a:r>
              <a:rPr lang="en-US" baseline="30000" dirty="0"/>
              <a:t>ST</a:t>
            </a:r>
            <a:r>
              <a:rPr lang="en-US" dirty="0"/>
              <a:t> NORMAL FORM</a:t>
            </a:r>
          </a:p>
        </p:txBody>
      </p:sp>
      <p:sp>
        <p:nvSpPr>
          <p:cNvPr id="8" name="TextBox 7">
            <a:extLst>
              <a:ext uri="{FF2B5EF4-FFF2-40B4-BE49-F238E27FC236}">
                <a16:creationId xmlns:a16="http://schemas.microsoft.com/office/drawing/2014/main" id="{56CCB617-897D-4F62-88CD-FBDA81484BD7}"/>
              </a:ext>
            </a:extLst>
          </p:cNvPr>
          <p:cNvSpPr txBox="1"/>
          <p:nvPr/>
        </p:nvSpPr>
        <p:spPr>
          <a:xfrm>
            <a:off x="5134707" y="145860"/>
            <a:ext cx="1529863" cy="369332"/>
          </a:xfrm>
          <a:prstGeom prst="rect">
            <a:avLst/>
          </a:prstGeom>
          <a:noFill/>
        </p:spPr>
        <p:txBody>
          <a:bodyPr wrap="square" rtlCol="0">
            <a:spAutoFit/>
          </a:bodyPr>
          <a:lstStyle/>
          <a:p>
            <a:r>
              <a:rPr lang="en-US" dirty="0">
                <a:latin typeface="Palatino Linotype" panose="02040502050505030304" pitchFamily="18" charset="0"/>
              </a:rPr>
              <a:t>CHAPTER 3</a:t>
            </a:r>
          </a:p>
        </p:txBody>
      </p:sp>
    </p:spTree>
    <p:extLst>
      <p:ext uri="{BB962C8B-B14F-4D97-AF65-F5344CB8AC3E}">
        <p14:creationId xmlns:p14="http://schemas.microsoft.com/office/powerpoint/2010/main" val="171739436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4A3CA0-9278-4872-880D-57C2C1E39EE4}"/>
              </a:ext>
            </a:extLst>
          </p:cNvPr>
          <p:cNvPicPr>
            <a:picLocks noChangeAspect="1"/>
          </p:cNvPicPr>
          <p:nvPr/>
        </p:nvPicPr>
        <p:blipFill>
          <a:blip r:embed="rId2"/>
          <a:stretch>
            <a:fillRect/>
          </a:stretch>
        </p:blipFill>
        <p:spPr>
          <a:xfrm>
            <a:off x="1489311" y="1329508"/>
            <a:ext cx="9213378" cy="4198984"/>
          </a:xfrm>
          <a:prstGeom prst="rect">
            <a:avLst/>
          </a:prstGeom>
        </p:spPr>
      </p:pic>
    </p:spTree>
    <p:extLst>
      <p:ext uri="{BB962C8B-B14F-4D97-AF65-F5344CB8AC3E}">
        <p14:creationId xmlns:p14="http://schemas.microsoft.com/office/powerpoint/2010/main" val="340063607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7FC879-55E4-4180-BC92-EBAA2D3640D8}"/>
              </a:ext>
            </a:extLst>
          </p:cNvPr>
          <p:cNvSpPr txBox="1"/>
          <p:nvPr/>
        </p:nvSpPr>
        <p:spPr>
          <a:xfrm>
            <a:off x="896815" y="659423"/>
            <a:ext cx="2971800" cy="369332"/>
          </a:xfrm>
          <a:prstGeom prst="rect">
            <a:avLst/>
          </a:prstGeom>
          <a:noFill/>
        </p:spPr>
        <p:txBody>
          <a:bodyPr wrap="square" rtlCol="0">
            <a:spAutoFit/>
          </a:bodyPr>
          <a:lstStyle/>
          <a:p>
            <a:r>
              <a:rPr lang="en-US" dirty="0"/>
              <a:t>TABLE 2. 2</a:t>
            </a:r>
            <a:r>
              <a:rPr lang="en-US" baseline="30000" dirty="0"/>
              <a:t>ND</a:t>
            </a:r>
            <a:r>
              <a:rPr lang="en-US" dirty="0"/>
              <a:t> NORMAL FORM</a:t>
            </a:r>
          </a:p>
        </p:txBody>
      </p:sp>
      <p:pic>
        <p:nvPicPr>
          <p:cNvPr id="4" name="Picture 3">
            <a:extLst>
              <a:ext uri="{FF2B5EF4-FFF2-40B4-BE49-F238E27FC236}">
                <a16:creationId xmlns:a16="http://schemas.microsoft.com/office/drawing/2014/main" id="{585CA704-F45F-434F-87AD-9B721748E3E0}"/>
              </a:ext>
            </a:extLst>
          </p:cNvPr>
          <p:cNvPicPr>
            <a:picLocks noChangeAspect="1"/>
          </p:cNvPicPr>
          <p:nvPr/>
        </p:nvPicPr>
        <p:blipFill>
          <a:blip r:embed="rId2"/>
          <a:stretch>
            <a:fillRect/>
          </a:stretch>
        </p:blipFill>
        <p:spPr>
          <a:xfrm>
            <a:off x="1803510" y="1179547"/>
            <a:ext cx="8725656" cy="2019475"/>
          </a:xfrm>
          <a:prstGeom prst="rect">
            <a:avLst/>
          </a:prstGeom>
        </p:spPr>
      </p:pic>
      <p:pic>
        <p:nvPicPr>
          <p:cNvPr id="6" name="Picture 5">
            <a:extLst>
              <a:ext uri="{FF2B5EF4-FFF2-40B4-BE49-F238E27FC236}">
                <a16:creationId xmlns:a16="http://schemas.microsoft.com/office/drawing/2014/main" id="{DABE1526-0DEB-42E5-A8B5-3BBA5EDA2C51}"/>
              </a:ext>
            </a:extLst>
          </p:cNvPr>
          <p:cNvPicPr>
            <a:picLocks noChangeAspect="1"/>
          </p:cNvPicPr>
          <p:nvPr/>
        </p:nvPicPr>
        <p:blipFill>
          <a:blip r:embed="rId3"/>
          <a:stretch>
            <a:fillRect/>
          </a:stretch>
        </p:blipFill>
        <p:spPr>
          <a:xfrm>
            <a:off x="1662834" y="3429000"/>
            <a:ext cx="9068586" cy="2979678"/>
          </a:xfrm>
          <a:prstGeom prst="rect">
            <a:avLst/>
          </a:prstGeom>
        </p:spPr>
      </p:pic>
    </p:spTree>
    <p:extLst>
      <p:ext uri="{BB962C8B-B14F-4D97-AF65-F5344CB8AC3E}">
        <p14:creationId xmlns:p14="http://schemas.microsoft.com/office/powerpoint/2010/main" val="245132863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1744DC-68EC-4D95-B482-E7D2D62F3378}"/>
              </a:ext>
            </a:extLst>
          </p:cNvPr>
          <p:cNvPicPr>
            <a:picLocks noChangeAspect="1"/>
          </p:cNvPicPr>
          <p:nvPr/>
        </p:nvPicPr>
        <p:blipFill>
          <a:blip r:embed="rId2"/>
          <a:stretch>
            <a:fillRect/>
          </a:stretch>
        </p:blipFill>
        <p:spPr>
          <a:xfrm>
            <a:off x="1538845" y="1051354"/>
            <a:ext cx="9114310" cy="4755292"/>
          </a:xfrm>
          <a:prstGeom prst="rect">
            <a:avLst/>
          </a:prstGeom>
        </p:spPr>
      </p:pic>
    </p:spTree>
    <p:extLst>
      <p:ext uri="{BB962C8B-B14F-4D97-AF65-F5344CB8AC3E}">
        <p14:creationId xmlns:p14="http://schemas.microsoft.com/office/powerpoint/2010/main" val="101084302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70953B-170A-4357-BA5D-2C460FB3782F}"/>
              </a:ext>
            </a:extLst>
          </p:cNvPr>
          <p:cNvPicPr>
            <a:picLocks noChangeAspect="1"/>
          </p:cNvPicPr>
          <p:nvPr/>
        </p:nvPicPr>
        <p:blipFill>
          <a:blip r:embed="rId2"/>
          <a:stretch>
            <a:fillRect/>
          </a:stretch>
        </p:blipFill>
        <p:spPr>
          <a:xfrm>
            <a:off x="2995001" y="999497"/>
            <a:ext cx="5639289" cy="4366638"/>
          </a:xfrm>
          <a:prstGeom prst="rect">
            <a:avLst/>
          </a:prstGeom>
        </p:spPr>
      </p:pic>
    </p:spTree>
    <p:extLst>
      <p:ext uri="{BB962C8B-B14F-4D97-AF65-F5344CB8AC3E}">
        <p14:creationId xmlns:p14="http://schemas.microsoft.com/office/powerpoint/2010/main" val="27326593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F85D3B-8763-4F9F-9BC5-830F7C082262}"/>
              </a:ext>
            </a:extLst>
          </p:cNvPr>
          <p:cNvPicPr>
            <a:picLocks noChangeAspect="1"/>
          </p:cNvPicPr>
          <p:nvPr/>
        </p:nvPicPr>
        <p:blipFill>
          <a:blip r:embed="rId2"/>
          <a:stretch>
            <a:fillRect/>
          </a:stretch>
        </p:blipFill>
        <p:spPr>
          <a:xfrm>
            <a:off x="1455018" y="841786"/>
            <a:ext cx="9281964" cy="5174428"/>
          </a:xfrm>
          <a:prstGeom prst="rect">
            <a:avLst/>
          </a:prstGeom>
        </p:spPr>
      </p:pic>
    </p:spTree>
    <p:extLst>
      <p:ext uri="{BB962C8B-B14F-4D97-AF65-F5344CB8AC3E}">
        <p14:creationId xmlns:p14="http://schemas.microsoft.com/office/powerpoint/2010/main" val="402876220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57681D-2363-4FA4-85BC-5C1F2EE1D5D2}"/>
              </a:ext>
            </a:extLst>
          </p:cNvPr>
          <p:cNvPicPr>
            <a:picLocks noChangeAspect="1"/>
          </p:cNvPicPr>
          <p:nvPr/>
        </p:nvPicPr>
        <p:blipFill>
          <a:blip r:embed="rId2"/>
          <a:stretch>
            <a:fillRect/>
          </a:stretch>
        </p:blipFill>
        <p:spPr>
          <a:xfrm>
            <a:off x="1980843" y="1146612"/>
            <a:ext cx="8230313" cy="4564776"/>
          </a:xfrm>
          <a:prstGeom prst="rect">
            <a:avLst/>
          </a:prstGeom>
        </p:spPr>
      </p:pic>
    </p:spTree>
    <p:extLst>
      <p:ext uri="{BB962C8B-B14F-4D97-AF65-F5344CB8AC3E}">
        <p14:creationId xmlns:p14="http://schemas.microsoft.com/office/powerpoint/2010/main" val="255785348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0D4568-7E9F-4EFA-B211-88A6AA898838}"/>
              </a:ext>
            </a:extLst>
          </p:cNvPr>
          <p:cNvSpPr txBox="1"/>
          <p:nvPr/>
        </p:nvSpPr>
        <p:spPr>
          <a:xfrm>
            <a:off x="844061" y="650631"/>
            <a:ext cx="3121270" cy="369332"/>
          </a:xfrm>
          <a:prstGeom prst="rect">
            <a:avLst/>
          </a:prstGeom>
          <a:noFill/>
        </p:spPr>
        <p:txBody>
          <a:bodyPr wrap="square" rtlCol="0">
            <a:spAutoFit/>
          </a:bodyPr>
          <a:lstStyle/>
          <a:p>
            <a:r>
              <a:rPr lang="en-US" dirty="0"/>
              <a:t>TABLE 3. 3</a:t>
            </a:r>
            <a:r>
              <a:rPr lang="en-US" baseline="30000" dirty="0"/>
              <a:t>rd</a:t>
            </a:r>
            <a:r>
              <a:rPr lang="en-US" dirty="0"/>
              <a:t> NORMAL FORM</a:t>
            </a:r>
          </a:p>
        </p:txBody>
      </p:sp>
      <p:pic>
        <p:nvPicPr>
          <p:cNvPr id="4" name="Picture 3">
            <a:extLst>
              <a:ext uri="{FF2B5EF4-FFF2-40B4-BE49-F238E27FC236}">
                <a16:creationId xmlns:a16="http://schemas.microsoft.com/office/drawing/2014/main" id="{D573F2A9-58CD-4729-9416-BE7A1A578E5C}"/>
              </a:ext>
            </a:extLst>
          </p:cNvPr>
          <p:cNvPicPr>
            <a:picLocks noChangeAspect="1"/>
          </p:cNvPicPr>
          <p:nvPr/>
        </p:nvPicPr>
        <p:blipFill>
          <a:blip r:embed="rId2"/>
          <a:stretch>
            <a:fillRect/>
          </a:stretch>
        </p:blipFill>
        <p:spPr>
          <a:xfrm>
            <a:off x="1626482" y="1124746"/>
            <a:ext cx="8939035" cy="1935648"/>
          </a:xfrm>
          <a:prstGeom prst="rect">
            <a:avLst/>
          </a:prstGeom>
        </p:spPr>
      </p:pic>
      <p:pic>
        <p:nvPicPr>
          <p:cNvPr id="6" name="Picture 5">
            <a:extLst>
              <a:ext uri="{FF2B5EF4-FFF2-40B4-BE49-F238E27FC236}">
                <a16:creationId xmlns:a16="http://schemas.microsoft.com/office/drawing/2014/main" id="{AFECDB47-FEAA-493A-B6D9-A61EA315874A}"/>
              </a:ext>
            </a:extLst>
          </p:cNvPr>
          <p:cNvPicPr>
            <a:picLocks noChangeAspect="1"/>
          </p:cNvPicPr>
          <p:nvPr/>
        </p:nvPicPr>
        <p:blipFill>
          <a:blip r:embed="rId3"/>
          <a:stretch>
            <a:fillRect/>
          </a:stretch>
        </p:blipFill>
        <p:spPr>
          <a:xfrm>
            <a:off x="1870058" y="3236021"/>
            <a:ext cx="8276037" cy="3093988"/>
          </a:xfrm>
          <a:prstGeom prst="rect">
            <a:avLst/>
          </a:prstGeom>
        </p:spPr>
      </p:pic>
    </p:spTree>
    <p:extLst>
      <p:ext uri="{BB962C8B-B14F-4D97-AF65-F5344CB8AC3E}">
        <p14:creationId xmlns:p14="http://schemas.microsoft.com/office/powerpoint/2010/main" val="83324225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D6E700-FCE2-432D-B324-895735D11FA3}"/>
              </a:ext>
            </a:extLst>
          </p:cNvPr>
          <p:cNvPicPr>
            <a:picLocks noChangeAspect="1"/>
          </p:cNvPicPr>
          <p:nvPr/>
        </p:nvPicPr>
        <p:blipFill>
          <a:blip r:embed="rId2"/>
          <a:stretch>
            <a:fillRect/>
          </a:stretch>
        </p:blipFill>
        <p:spPr>
          <a:xfrm>
            <a:off x="2182791" y="1127560"/>
            <a:ext cx="7826418" cy="4602879"/>
          </a:xfrm>
          <a:prstGeom prst="rect">
            <a:avLst/>
          </a:prstGeom>
        </p:spPr>
      </p:pic>
    </p:spTree>
    <p:extLst>
      <p:ext uri="{BB962C8B-B14F-4D97-AF65-F5344CB8AC3E}">
        <p14:creationId xmlns:p14="http://schemas.microsoft.com/office/powerpoint/2010/main" val="215629808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54724E-7653-41B6-ABE6-0BA694E42071}"/>
              </a:ext>
            </a:extLst>
          </p:cNvPr>
          <p:cNvPicPr>
            <a:picLocks noChangeAspect="1"/>
          </p:cNvPicPr>
          <p:nvPr/>
        </p:nvPicPr>
        <p:blipFill>
          <a:blip r:embed="rId2"/>
          <a:stretch>
            <a:fillRect/>
          </a:stretch>
        </p:blipFill>
        <p:spPr>
          <a:xfrm>
            <a:off x="3901250" y="1112319"/>
            <a:ext cx="4389500" cy="4633362"/>
          </a:xfrm>
          <a:prstGeom prst="rect">
            <a:avLst/>
          </a:prstGeom>
        </p:spPr>
      </p:pic>
    </p:spTree>
    <p:extLst>
      <p:ext uri="{BB962C8B-B14F-4D97-AF65-F5344CB8AC3E}">
        <p14:creationId xmlns:p14="http://schemas.microsoft.com/office/powerpoint/2010/main" val="86536166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635E33-25A3-4A1E-B1DA-B2664721C7A4}"/>
              </a:ext>
            </a:extLst>
          </p:cNvPr>
          <p:cNvPicPr>
            <a:picLocks noChangeAspect="1"/>
          </p:cNvPicPr>
          <p:nvPr/>
        </p:nvPicPr>
        <p:blipFill>
          <a:blip r:embed="rId2"/>
          <a:stretch>
            <a:fillRect/>
          </a:stretch>
        </p:blipFill>
        <p:spPr>
          <a:xfrm>
            <a:off x="1466449" y="765579"/>
            <a:ext cx="9259102" cy="5326842"/>
          </a:xfrm>
          <a:prstGeom prst="rect">
            <a:avLst/>
          </a:prstGeom>
        </p:spPr>
      </p:pic>
    </p:spTree>
    <p:extLst>
      <p:ext uri="{BB962C8B-B14F-4D97-AF65-F5344CB8AC3E}">
        <p14:creationId xmlns:p14="http://schemas.microsoft.com/office/powerpoint/2010/main" val="268445215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77DB57-3BEA-4883-8D74-6C9DEF113CDE}"/>
              </a:ext>
            </a:extLst>
          </p:cNvPr>
          <p:cNvPicPr>
            <a:picLocks noChangeAspect="1"/>
          </p:cNvPicPr>
          <p:nvPr/>
        </p:nvPicPr>
        <p:blipFill>
          <a:blip r:embed="rId2"/>
          <a:stretch>
            <a:fillRect/>
          </a:stretch>
        </p:blipFill>
        <p:spPr>
          <a:xfrm>
            <a:off x="1066364" y="959906"/>
            <a:ext cx="10059272" cy="4938188"/>
          </a:xfrm>
          <a:prstGeom prst="rect">
            <a:avLst/>
          </a:prstGeom>
        </p:spPr>
      </p:pic>
    </p:spTree>
    <p:extLst>
      <p:ext uri="{BB962C8B-B14F-4D97-AF65-F5344CB8AC3E}">
        <p14:creationId xmlns:p14="http://schemas.microsoft.com/office/powerpoint/2010/main" val="407592792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77D888-6EEC-442C-B475-811D3F742130}"/>
              </a:ext>
            </a:extLst>
          </p:cNvPr>
          <p:cNvSpPr txBox="1"/>
          <p:nvPr/>
        </p:nvSpPr>
        <p:spPr>
          <a:xfrm>
            <a:off x="791308" y="597877"/>
            <a:ext cx="3886200" cy="369332"/>
          </a:xfrm>
          <a:prstGeom prst="rect">
            <a:avLst/>
          </a:prstGeom>
          <a:noFill/>
        </p:spPr>
        <p:txBody>
          <a:bodyPr wrap="square" rtlCol="0">
            <a:spAutoFit/>
          </a:bodyPr>
          <a:lstStyle/>
          <a:p>
            <a:r>
              <a:rPr lang="en-US" dirty="0"/>
              <a:t>CONCEPTUAL DATA MODEL</a:t>
            </a:r>
          </a:p>
        </p:txBody>
      </p:sp>
      <p:pic>
        <p:nvPicPr>
          <p:cNvPr id="4" name="Picture 3">
            <a:extLst>
              <a:ext uri="{FF2B5EF4-FFF2-40B4-BE49-F238E27FC236}">
                <a16:creationId xmlns:a16="http://schemas.microsoft.com/office/drawing/2014/main" id="{B64EC7D2-6288-4F68-90C9-07B2C3DD7F64}"/>
              </a:ext>
            </a:extLst>
          </p:cNvPr>
          <p:cNvPicPr>
            <a:picLocks noChangeAspect="1"/>
          </p:cNvPicPr>
          <p:nvPr/>
        </p:nvPicPr>
        <p:blipFill>
          <a:blip r:embed="rId2"/>
          <a:stretch>
            <a:fillRect/>
          </a:stretch>
        </p:blipFill>
        <p:spPr>
          <a:xfrm>
            <a:off x="1382621" y="1074216"/>
            <a:ext cx="9426757" cy="4709568"/>
          </a:xfrm>
          <a:prstGeom prst="rect">
            <a:avLst/>
          </a:prstGeom>
        </p:spPr>
      </p:pic>
    </p:spTree>
    <p:extLst>
      <p:ext uri="{BB962C8B-B14F-4D97-AF65-F5344CB8AC3E}">
        <p14:creationId xmlns:p14="http://schemas.microsoft.com/office/powerpoint/2010/main" val="92764948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6AE5B-9D15-4776-BD43-D8AD7619F5E5}"/>
              </a:ext>
            </a:extLst>
          </p:cNvPr>
          <p:cNvSpPr txBox="1"/>
          <p:nvPr/>
        </p:nvSpPr>
        <p:spPr>
          <a:xfrm>
            <a:off x="835270" y="641838"/>
            <a:ext cx="2497015" cy="369332"/>
          </a:xfrm>
          <a:prstGeom prst="rect">
            <a:avLst/>
          </a:prstGeom>
          <a:noFill/>
        </p:spPr>
        <p:txBody>
          <a:bodyPr wrap="square" rtlCol="0">
            <a:spAutoFit/>
          </a:bodyPr>
          <a:lstStyle/>
          <a:p>
            <a:r>
              <a:rPr lang="en-US" dirty="0"/>
              <a:t>LOGICAL DATA MODEL</a:t>
            </a:r>
          </a:p>
        </p:txBody>
      </p:sp>
      <p:pic>
        <p:nvPicPr>
          <p:cNvPr id="4" name="Picture 3">
            <a:extLst>
              <a:ext uri="{FF2B5EF4-FFF2-40B4-BE49-F238E27FC236}">
                <a16:creationId xmlns:a16="http://schemas.microsoft.com/office/drawing/2014/main" id="{D0B35ED8-B866-408C-A846-C4F1E9C4DC2F}"/>
              </a:ext>
            </a:extLst>
          </p:cNvPr>
          <p:cNvPicPr>
            <a:picLocks noChangeAspect="1"/>
          </p:cNvPicPr>
          <p:nvPr/>
        </p:nvPicPr>
        <p:blipFill>
          <a:blip r:embed="rId2"/>
          <a:stretch>
            <a:fillRect/>
          </a:stretch>
        </p:blipFill>
        <p:spPr>
          <a:xfrm>
            <a:off x="1307862" y="1072716"/>
            <a:ext cx="9998306" cy="5303980"/>
          </a:xfrm>
          <a:prstGeom prst="rect">
            <a:avLst/>
          </a:prstGeom>
        </p:spPr>
      </p:pic>
    </p:spTree>
    <p:extLst>
      <p:ext uri="{BB962C8B-B14F-4D97-AF65-F5344CB8AC3E}">
        <p14:creationId xmlns:p14="http://schemas.microsoft.com/office/powerpoint/2010/main" val="29802126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F25D66-7607-4803-B80D-5387B8A12DA7}"/>
              </a:ext>
            </a:extLst>
          </p:cNvPr>
          <p:cNvSpPr txBox="1"/>
          <p:nvPr/>
        </p:nvSpPr>
        <p:spPr>
          <a:xfrm>
            <a:off x="844061" y="650630"/>
            <a:ext cx="2602523" cy="369332"/>
          </a:xfrm>
          <a:prstGeom prst="rect">
            <a:avLst/>
          </a:prstGeom>
          <a:noFill/>
        </p:spPr>
        <p:txBody>
          <a:bodyPr wrap="square" rtlCol="0">
            <a:spAutoFit/>
          </a:bodyPr>
          <a:lstStyle/>
          <a:p>
            <a:r>
              <a:rPr lang="en-US" dirty="0"/>
              <a:t>PHISICAL DATA MODEL</a:t>
            </a:r>
          </a:p>
        </p:txBody>
      </p:sp>
      <p:pic>
        <p:nvPicPr>
          <p:cNvPr id="4" name="Picture 3">
            <a:extLst>
              <a:ext uri="{FF2B5EF4-FFF2-40B4-BE49-F238E27FC236}">
                <a16:creationId xmlns:a16="http://schemas.microsoft.com/office/drawing/2014/main" id="{18AEAE24-A696-4205-BAE0-53CAF4893889}"/>
              </a:ext>
            </a:extLst>
          </p:cNvPr>
          <p:cNvPicPr>
            <a:picLocks noChangeAspect="1"/>
          </p:cNvPicPr>
          <p:nvPr/>
        </p:nvPicPr>
        <p:blipFill>
          <a:blip r:embed="rId2"/>
          <a:stretch>
            <a:fillRect/>
          </a:stretch>
        </p:blipFill>
        <p:spPr>
          <a:xfrm>
            <a:off x="1832476" y="1019962"/>
            <a:ext cx="8357809" cy="5673219"/>
          </a:xfrm>
          <a:prstGeom prst="rect">
            <a:avLst/>
          </a:prstGeom>
        </p:spPr>
      </p:pic>
    </p:spTree>
    <p:extLst>
      <p:ext uri="{BB962C8B-B14F-4D97-AF65-F5344CB8AC3E}">
        <p14:creationId xmlns:p14="http://schemas.microsoft.com/office/powerpoint/2010/main" val="352822586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7CFB40-4119-4E66-B117-9AC53DFE7E05}"/>
              </a:ext>
            </a:extLst>
          </p:cNvPr>
          <p:cNvSpPr txBox="1"/>
          <p:nvPr/>
        </p:nvSpPr>
        <p:spPr>
          <a:xfrm>
            <a:off x="3300045" y="2228671"/>
            <a:ext cx="5591909" cy="1200329"/>
          </a:xfrm>
          <a:prstGeom prst="rect">
            <a:avLst/>
          </a:prstGeom>
          <a:noFill/>
        </p:spPr>
        <p:txBody>
          <a:bodyPr wrap="square" rtlCol="0">
            <a:spAutoFit/>
          </a:bodyPr>
          <a:lstStyle/>
          <a:p>
            <a:r>
              <a:rPr lang="en-US" sz="7200" dirty="0">
                <a:latin typeface="Algerian" panose="04020705040A02060702" pitchFamily="82" charset="0"/>
              </a:rPr>
              <a:t>THANK YOU!</a:t>
            </a:r>
          </a:p>
        </p:txBody>
      </p:sp>
    </p:spTree>
    <p:extLst>
      <p:ext uri="{BB962C8B-B14F-4D97-AF65-F5344CB8AC3E}">
        <p14:creationId xmlns:p14="http://schemas.microsoft.com/office/powerpoint/2010/main" val="1814979211"/>
      </p:ext>
    </p:extLst>
  </p:cSld>
  <p:clrMapOvr>
    <a:masterClrMapping/>
  </p:clrMapOvr>
  <p:transition spd="med">
    <p:pull/>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0</TotalTime>
  <Words>408</Words>
  <Application>Microsoft Office PowerPoint</Application>
  <PresentationFormat>Widescreen</PresentationFormat>
  <Paragraphs>52</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Arial</vt:lpstr>
      <vt:lpstr>Calibri</vt:lpstr>
      <vt:lpstr>Californian FB</vt:lpstr>
      <vt:lpstr>Palatino Linotype</vt:lpstr>
      <vt:lpstr>Perpetua Titling MT</vt:lpstr>
      <vt:lpstr>Tahoma</vt:lpstr>
      <vt:lpstr>Tw Cen MT</vt:lpstr>
      <vt:lpstr>Circuit</vt:lpstr>
      <vt:lpstr>DEVELOPMENT OF POINT-OF-SALE AND INVENTORY MANAGEMENT SYSTEM FOR TROY-DEAN MOTORPARTS</vt:lpstr>
      <vt:lpstr>INTRODUCTION</vt:lpstr>
      <vt:lpstr>OBJECTIVES</vt:lpstr>
      <vt:lpstr>SCOPE AND LIMITATION   SCOPE:</vt:lpstr>
      <vt:lpstr>                                                         REVIEW RELATED LITERATURE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2025-05-21T11:22:59Z</dcterms:created>
  <dcterms:modified xsi:type="dcterms:W3CDTF">2025-05-22T02:00:10Z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